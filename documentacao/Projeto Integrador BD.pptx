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6" r:id="rId13"/>
    <p:sldId id="269" r:id="rId14"/>
    <p:sldId id="270" r:id="rId15"/>
    <p:sldId id="273" r:id="rId16"/>
    <p:sldId id="272" r:id="rId17"/>
    <p:sldId id="274" r:id="rId18"/>
    <p:sldId id="291" r:id="rId19"/>
    <p:sldId id="292" r:id="rId20"/>
    <p:sldId id="290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>
        <p:scale>
          <a:sx n="33" d="100"/>
          <a:sy n="33" d="100"/>
        </p:scale>
        <p:origin x="209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48403-7105-6135-D5F8-0F721F55B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ACE1BF-3412-CCD7-E6C9-9EEB62309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E55A8-2D18-5D4A-D705-67C272E3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91304D-691C-76BE-1457-87A728B7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EA8A6D-3B20-74B8-723D-719A40F5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26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5C5A5-5558-4F10-7800-60281C12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1F3C57-F8C5-4733-5125-B00AFCF56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14A303-B4C4-40D4-5E4E-A484198E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6E10C6-F04E-3F78-A9E1-A425D4D7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C86272-C32C-0622-42B5-4D869BE1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90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C4856-0B8F-5161-56EF-00BCB832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BC60DE-5C21-31B8-179E-F3C6EBFD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F00DE6-D84A-CC05-ACEF-4CDA610F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8D0FC0-6295-FE93-236E-7BD84C50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65D842-70DE-0368-92F0-B4AD4669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5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ADDA-9220-E796-092C-35E80962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ED0065-EEB2-A401-C50D-12CF1FD2E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76BD2A-D455-918B-1D61-0E96110E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4D62BA-67EA-7C45-05ED-3D332506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DFF1A4-5606-1DE5-AAEA-0C213A4B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0AB818-3484-BD65-291C-C4BF45AF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03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75C85-FE35-01F7-57A8-E9548224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3157BD-28A5-7D4E-9178-5F22F309C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CD80D1-A38D-1029-0181-25F843365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53A6C5-A27B-CCB8-3731-9A388AB04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537715-3715-F8EC-43CE-569251AF8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BDCF11-D737-2727-28C6-05D721F34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3E3842-F77A-4790-192B-92A28BCA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E8A6CB-8635-601E-7944-DDD62374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5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0531C-B86D-085E-2570-CBA0C6A9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246D11-C7B7-BDCA-F6F2-F1CB88FB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AA8688-631F-30C6-2E38-EC845B78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81B779-34A4-8DBD-4DD1-F379B0FE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9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B71139-68EF-EACF-AF07-7C86FE93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CAD824-8427-E4F7-9B2D-5422FA1F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ACCFDA-FCBD-19E4-DB95-2E99BB82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00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0A5CF-0AAB-8B8A-C9A8-B90004C5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AD0F80-843F-3682-5FC3-1BC751A61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748881-FB23-814E-1C0C-AB56D4882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B4D7E3-97AC-504D-EF13-CCE39D1A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C117B-4C46-8137-A871-756F000C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F137E7-D461-D466-9B36-991D719D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75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B9964-6135-3968-229B-02FE6984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D701D9-AA5C-E1BA-A718-494AC5B9C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96D892-0F4D-27B1-27C9-80931AE7C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00A9D5-88DA-8E09-35ED-26B7AB93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9CA3C6-8455-D7CA-77C2-8887AEB7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423453-C763-AE1E-DFC6-AC890DBF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62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886A5-DCE9-1B6E-8392-9FAAD0E0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440E50-FA14-2552-510B-D79DAD983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F43A67-2969-AF46-F5B8-B571C5FA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B5CF69-A0B5-D09D-C82C-0F3F3ECD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F4FC34-A97B-E992-BF91-405A981A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26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7B9C54-D46E-4FA4-65C9-41D024300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F45D57-ACF2-3A15-1B72-9D62FC7B7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E30C4-B54B-F242-368C-53E0EE4B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97C5F-9D28-EFC3-1489-40BFB8E8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4A103F-0C8E-4036-1D07-0FD62C75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88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2D84B8-7552-623C-C8B2-7D82757A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BB6577-655F-ADAC-9D58-073C5B8C6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91067D-A6E9-C0EC-6A34-F7C34DDDA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3FD79-EDAD-4357-93CC-C57928796F59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6EE1CA-283D-360E-E5D6-73C4D17C6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DD068-2050-A1F4-E32E-8E65B4E74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B74C3-F3DD-4897-88DE-4C092A26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Forma Livre: Forma 12">
            <a:extLst>
              <a:ext uri="{FF2B5EF4-FFF2-40B4-BE49-F238E27FC236}">
                <a16:creationId xmlns:a16="http://schemas.microsoft.com/office/drawing/2014/main" id="{119F7753-E65B-0D0F-00FA-89E5EE816D4A}"/>
              </a:ext>
            </a:extLst>
          </p:cNvPr>
          <p:cNvSpPr/>
          <p:nvPr/>
        </p:nvSpPr>
        <p:spPr>
          <a:xfrm rot="2700000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F3593B9-39A3-DF97-3815-D326C23368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B62261-7020-C175-6D00-32F8E8EDE193}"/>
              </a:ext>
            </a:extLst>
          </p:cNvPr>
          <p:cNvSpPr txBox="1"/>
          <p:nvPr/>
        </p:nvSpPr>
        <p:spPr>
          <a:xfrm>
            <a:off x="3790950" y="133350"/>
            <a:ext cx="80867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8800" b="1" dirty="0">
                <a:solidFill>
                  <a:schemeClr val="bg1"/>
                </a:solidFill>
                <a:latin typeface="Modern No. 20" panose="02070704070505020303" pitchFamily="18" charset="0"/>
              </a:rPr>
              <a:t>Conecta Mentes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8ABBC45-840B-E74A-A9E7-4125F5DED35A}"/>
              </a:ext>
            </a:extLst>
          </p:cNvPr>
          <p:cNvSpPr txBox="1"/>
          <p:nvPr/>
        </p:nvSpPr>
        <p:spPr>
          <a:xfrm>
            <a:off x="3571875" y="3795891"/>
            <a:ext cx="85248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Desenvolvedores: </a:t>
            </a:r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Gabriel </a:t>
            </a:r>
            <a:r>
              <a:rPr lang="pt-BR" sz="5400" dirty="0" err="1">
                <a:solidFill>
                  <a:schemeClr val="bg1"/>
                </a:solidFill>
                <a:latin typeface="Georgia" panose="02040502050405020303" pitchFamily="18" charset="0"/>
              </a:rPr>
              <a:t>Alvis</a:t>
            </a:r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 Nogueira</a:t>
            </a:r>
          </a:p>
          <a:p>
            <a:pPr algn="r"/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 Marcos Daniel Leal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54809E4-2513-48F1-C7AC-37B3D74A5E73}"/>
              </a:ext>
            </a:extLst>
          </p:cNvPr>
          <p:cNvSpPr txBox="1"/>
          <p:nvPr/>
        </p:nvSpPr>
        <p:spPr>
          <a:xfrm>
            <a:off x="2638423" y="1579900"/>
            <a:ext cx="92392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>
                <a:solidFill>
                  <a:schemeClr val="bg1"/>
                </a:solidFill>
                <a:latin typeface="Georgia" panose="02040502050405020303" pitchFamily="18" charset="0"/>
              </a:rPr>
              <a:t>Projeto Integrador </a:t>
            </a:r>
          </a:p>
          <a:p>
            <a:pPr algn="r"/>
            <a:r>
              <a:rPr lang="pt-BR" sz="4400" dirty="0">
                <a:solidFill>
                  <a:schemeClr val="bg1"/>
                </a:solidFill>
                <a:latin typeface="Georgia" panose="02040502050405020303" pitchFamily="18" charset="0"/>
              </a:rPr>
              <a:t>IFG BCC 2° Período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B51896-0049-393F-441C-88CD163D1DB9}"/>
              </a:ext>
            </a:extLst>
          </p:cNvPr>
          <p:cNvSpPr txBox="1"/>
          <p:nvPr/>
        </p:nvSpPr>
        <p:spPr>
          <a:xfrm>
            <a:off x="4348899" y="6991350"/>
            <a:ext cx="7881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6600" dirty="0">
                <a:solidFill>
                  <a:schemeClr val="bg1"/>
                </a:solidFill>
                <a:latin typeface="Modern No. 20" panose="02070704070505020303" pitchFamily="18" charset="0"/>
              </a:rPr>
              <a:t>Seção 1 - Introdução: descrevendo o objetivo do software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18C90A-A110-3F78-95BC-D8504A10878D}"/>
              </a:ext>
            </a:extLst>
          </p:cNvPr>
          <p:cNvSpPr txBox="1"/>
          <p:nvPr/>
        </p:nvSpPr>
        <p:spPr>
          <a:xfrm>
            <a:off x="3790950" y="10130671"/>
            <a:ext cx="84963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</a:rPr>
              <a:t>O objetivo central do nosso projeto Conecta Mentes é ser uma plataforma digital que facilite e otimize o processo de agendamento e gestão de sessões de mentoria especializada para o público envolvido com crianças com deficiência. A plataforma irá buscar conectar de forma eficiente:.</a:t>
            </a:r>
          </a:p>
          <a:p>
            <a:endParaRPr lang="pt-BR" sz="3200" dirty="0"/>
          </a:p>
        </p:txBody>
      </p:sp>
      <p:sp>
        <p:nvSpPr>
          <p:cNvPr id="9" name="AutoShape 2" descr="Imagem de ">
            <a:extLst>
              <a:ext uri="{FF2B5EF4-FFF2-40B4-BE49-F238E27FC236}">
                <a16:creationId xmlns:a16="http://schemas.microsoft.com/office/drawing/2014/main" id="{27FFC320-2EEC-77A0-3588-680C54F94D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809750"/>
            <a:ext cx="5391150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959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2A6EB-126D-FF1E-00EC-47EB7CD12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EC43C165-BFBD-4C99-5430-79C126C28C5A}"/>
              </a:ext>
            </a:extLst>
          </p:cNvPr>
          <p:cNvSpPr/>
          <p:nvPr/>
        </p:nvSpPr>
        <p:spPr>
          <a:xfrm>
            <a:off x="0" y="-24127"/>
            <a:ext cx="12192000" cy="6882127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85F19AA-6302-45C9-0F9E-A6FCD577F8F0}"/>
              </a:ext>
            </a:extLst>
          </p:cNvPr>
          <p:cNvSpPr txBox="1"/>
          <p:nvPr/>
        </p:nvSpPr>
        <p:spPr>
          <a:xfrm>
            <a:off x="3409950" y="286167"/>
            <a:ext cx="84963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4400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 useBgFill="1">
        <p:nvSpPr>
          <p:cNvPr id="10" name="Forma Livre: Forma 9">
            <a:extLst>
              <a:ext uri="{FF2B5EF4-FFF2-40B4-BE49-F238E27FC236}">
                <a16:creationId xmlns:a16="http://schemas.microsoft.com/office/drawing/2014/main" id="{B0A437C7-6F5C-E909-1CCA-504B85C68ABA}"/>
              </a:ext>
            </a:extLst>
          </p:cNvPr>
          <p:cNvSpPr/>
          <p:nvPr/>
        </p:nvSpPr>
        <p:spPr>
          <a:xfrm rot="8100000">
            <a:off x="-60633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BCDA0F-0AE2-F7A0-4771-CDFC6E4A6116}"/>
              </a:ext>
            </a:extLst>
          </p:cNvPr>
          <p:cNvSpPr txBox="1"/>
          <p:nvPr/>
        </p:nvSpPr>
        <p:spPr>
          <a:xfrm>
            <a:off x="3815499" y="0"/>
            <a:ext cx="7881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6600" dirty="0">
                <a:solidFill>
                  <a:schemeClr val="bg1"/>
                </a:solidFill>
                <a:latin typeface="Modern No. 20" panose="02070704070505020303" pitchFamily="18" charset="0"/>
              </a:rPr>
              <a:t>Seção 1 - Introdução: descrevendo o objetivo do software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882FA2-2F4C-BC26-97FF-F9A6B7D4C47C}"/>
              </a:ext>
            </a:extLst>
          </p:cNvPr>
          <p:cNvSpPr txBox="1"/>
          <p:nvPr/>
        </p:nvSpPr>
        <p:spPr>
          <a:xfrm>
            <a:off x="3257550" y="3139321"/>
            <a:ext cx="84963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</a:rPr>
              <a:t>O objetivo central do nosso projeto Conecta Mentes é ser uma plataforma digital que facilite e otimize o processo de agendamento e gestão de sessões de mentoria especializada para o público envolvido com crianças com deficiência. A plataforma irá buscar conectar de forma eficiente:.</a:t>
            </a:r>
          </a:p>
          <a:p>
            <a:endParaRPr lang="pt-BR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FE143-8FAB-52B4-2B26-FAAA0C3456E1}"/>
              </a:ext>
            </a:extLst>
          </p:cNvPr>
          <p:cNvSpPr txBox="1"/>
          <p:nvPr/>
        </p:nvSpPr>
        <p:spPr>
          <a:xfrm>
            <a:off x="2338389" y="7594983"/>
            <a:ext cx="9415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chemeClr val="bg1"/>
                </a:solidFill>
                <a:latin typeface="Georgia" panose="02040502050405020303" pitchFamily="18" charset="0"/>
              </a:rPr>
              <a:t>O software vai proporcionar uma experiência simples e acessível para o usuário, garantindo que o acesso à orientação e o suporte especializado seja focado nas necessidades específicas de cada usuário e de cada criança.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09C03B0-EA10-4FFD-5718-7678B2C44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011" y="10505079"/>
            <a:ext cx="4390103" cy="329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53E6B8-F25C-233D-3276-3DC5037D025C}"/>
              </a:ext>
            </a:extLst>
          </p:cNvPr>
          <p:cNvSpPr txBox="1"/>
          <p:nvPr/>
        </p:nvSpPr>
        <p:spPr>
          <a:xfrm>
            <a:off x="3348038" y="-6534633"/>
            <a:ext cx="80867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8800" b="1" dirty="0">
                <a:solidFill>
                  <a:schemeClr val="bg1"/>
                </a:solidFill>
                <a:latin typeface="Modern No. 20" panose="02070704070505020303" pitchFamily="18" charset="0"/>
              </a:rPr>
              <a:t>Conecta Mentes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C80AD94-1F3A-C459-81FE-983F6E269464}"/>
              </a:ext>
            </a:extLst>
          </p:cNvPr>
          <p:cNvSpPr txBox="1"/>
          <p:nvPr/>
        </p:nvSpPr>
        <p:spPr>
          <a:xfrm>
            <a:off x="3128963" y="-2872092"/>
            <a:ext cx="85248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5400" b="1" dirty="0">
                <a:solidFill>
                  <a:schemeClr val="bg1"/>
                </a:solidFill>
                <a:latin typeface="Georgia" panose="02040502050405020303" pitchFamily="18" charset="0"/>
              </a:rPr>
              <a:t>Desenvolvedores: </a:t>
            </a:r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Gabriel </a:t>
            </a:r>
            <a:r>
              <a:rPr lang="pt-BR" sz="5400" dirty="0" err="1">
                <a:solidFill>
                  <a:schemeClr val="bg1"/>
                </a:solidFill>
                <a:latin typeface="Georgia" panose="02040502050405020303" pitchFamily="18" charset="0"/>
              </a:rPr>
              <a:t>Alvis</a:t>
            </a:r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 Nogueira</a:t>
            </a:r>
          </a:p>
          <a:p>
            <a:pPr algn="r"/>
            <a:r>
              <a:rPr lang="pt-BR" sz="5400" dirty="0">
                <a:solidFill>
                  <a:schemeClr val="bg1"/>
                </a:solidFill>
                <a:latin typeface="Georgia" panose="02040502050405020303" pitchFamily="18" charset="0"/>
              </a:rPr>
              <a:t> Marcos Daniel Leal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0269D2A-53C1-9FD6-5D8C-B80F142413B4}"/>
              </a:ext>
            </a:extLst>
          </p:cNvPr>
          <p:cNvSpPr txBox="1"/>
          <p:nvPr/>
        </p:nvSpPr>
        <p:spPr>
          <a:xfrm>
            <a:off x="2195511" y="-5088083"/>
            <a:ext cx="92392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>
                <a:solidFill>
                  <a:schemeClr val="bg1"/>
                </a:solidFill>
                <a:latin typeface="Georgia" panose="02040502050405020303" pitchFamily="18" charset="0"/>
              </a:rPr>
              <a:t>Projeto Integrador </a:t>
            </a:r>
          </a:p>
          <a:p>
            <a:pPr algn="r"/>
            <a:r>
              <a:rPr lang="pt-BR" sz="4400" dirty="0">
                <a:solidFill>
                  <a:schemeClr val="bg1"/>
                </a:solidFill>
                <a:latin typeface="Georgia" panose="02040502050405020303" pitchFamily="18" charset="0"/>
              </a:rPr>
              <a:t>IFG BCC 2° Período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48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B9A16-E26F-5576-0D49-B870C394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475DADE-97B3-2BA6-FF9F-984E3ECB33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456142-BF91-92F9-8548-934195DE3F8B}"/>
              </a:ext>
            </a:extLst>
          </p:cNvPr>
          <p:cNvSpPr txBox="1"/>
          <p:nvPr/>
        </p:nvSpPr>
        <p:spPr>
          <a:xfrm>
            <a:off x="3409950" y="286167"/>
            <a:ext cx="84963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4400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6E42AD40-CBB8-D080-2BD0-3180EAC98AFD}"/>
              </a:ext>
            </a:extLst>
          </p:cNvPr>
          <p:cNvSpPr/>
          <p:nvPr/>
        </p:nvSpPr>
        <p:spPr>
          <a:xfrm rot="13611261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0C2F42-3746-7F18-2800-4F2A6CE7176C}"/>
              </a:ext>
            </a:extLst>
          </p:cNvPr>
          <p:cNvSpPr txBox="1"/>
          <p:nvPr/>
        </p:nvSpPr>
        <p:spPr>
          <a:xfrm>
            <a:off x="2638426" y="428178"/>
            <a:ext cx="9415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chemeClr val="bg1"/>
                </a:solidFill>
                <a:latin typeface="Georgia" panose="02040502050405020303" pitchFamily="18" charset="0"/>
              </a:rPr>
              <a:t>O software vai proporcionar uma experiência simples e acessível para o usuário, garantindo que o acesso à orientação e o suporte especializado seja focado nas necessidades específicas de cada usuário e de cada criança.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BD8DC5-FA8F-9F67-90A1-A09A26A6E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048" y="3338274"/>
            <a:ext cx="4390103" cy="329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3D626E7-981F-07D8-4CAC-BF32AB008D29}"/>
              </a:ext>
            </a:extLst>
          </p:cNvPr>
          <p:cNvSpPr txBox="1"/>
          <p:nvPr/>
        </p:nvSpPr>
        <p:spPr>
          <a:xfrm>
            <a:off x="3967899" y="-7227927"/>
            <a:ext cx="7881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6600" dirty="0">
                <a:solidFill>
                  <a:schemeClr val="bg1"/>
                </a:solidFill>
                <a:latin typeface="Modern No. 20" panose="02070704070505020303" pitchFamily="18" charset="0"/>
              </a:rPr>
              <a:t>Seção 1 - Introdução: descrevendo o objetivo do software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37F1B-AB42-FC3C-8FA9-6F6EC037C2A0}"/>
              </a:ext>
            </a:extLst>
          </p:cNvPr>
          <p:cNvSpPr txBox="1"/>
          <p:nvPr/>
        </p:nvSpPr>
        <p:spPr>
          <a:xfrm>
            <a:off x="3409950" y="-4088606"/>
            <a:ext cx="84963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</a:rPr>
              <a:t>O objetivo central do nosso projeto Conecta Mentes é ser uma plataforma digital que facilite e otimize o processo de agendamento e gestão de sessões de mentoria especializada para o público envolvido com crianças com deficiência. A plataforma irá buscar conectar de forma eficiente:.</a:t>
            </a:r>
          </a:p>
          <a:p>
            <a:endParaRPr lang="pt-BR" sz="32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2A9E257-B9A5-21E6-A13A-25DF38F28665}"/>
              </a:ext>
            </a:extLst>
          </p:cNvPr>
          <p:cNvSpPr txBox="1"/>
          <p:nvPr/>
        </p:nvSpPr>
        <p:spPr>
          <a:xfrm>
            <a:off x="1780406" y="6981378"/>
            <a:ext cx="102544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2 - Descrever usuários e as funcionalidades do software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E938CB6-1411-9B5E-0611-7CC336E572E4}"/>
              </a:ext>
            </a:extLst>
          </p:cNvPr>
          <p:cNvSpPr txBox="1"/>
          <p:nvPr/>
        </p:nvSpPr>
        <p:spPr>
          <a:xfrm>
            <a:off x="2890837" y="11244887"/>
            <a:ext cx="9163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 modelo conceitual do nosso projeto Conecta Mentes é baseado em </a:t>
            </a:r>
            <a:r>
              <a:rPr lang="pt-BR" sz="3600" dirty="0">
                <a:solidFill>
                  <a:prstClr val="white"/>
                </a:solidFill>
                <a:latin typeface="Georgia" panose="02040502050405020303" pitchFamily="18" charset="0"/>
              </a:rPr>
              <a:t>quatro</a:t>
            </a: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perfis de usuários, cada um com necessidades e permissões específicas: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EAFBD3-E075-02F0-B2E3-D3ED35AC5DF1}"/>
              </a:ext>
            </a:extLst>
          </p:cNvPr>
          <p:cNvSpPr txBox="1"/>
          <p:nvPr/>
        </p:nvSpPr>
        <p:spPr>
          <a:xfrm>
            <a:off x="3024188" y="9107456"/>
            <a:ext cx="90296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Descrições dos usuários/clientes</a:t>
            </a:r>
          </a:p>
        </p:txBody>
      </p:sp>
    </p:spTree>
    <p:extLst>
      <p:ext uri="{BB962C8B-B14F-4D97-AF65-F5344CB8AC3E}">
        <p14:creationId xmlns:p14="http://schemas.microsoft.com/office/powerpoint/2010/main" val="335790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503CD-069F-6F48-980C-0C6E7F0F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84DACDA4-5195-2559-1F96-39EE93B1CB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67977A-03D0-5856-838F-593BF9B4977D}"/>
              </a:ext>
            </a:extLst>
          </p:cNvPr>
          <p:cNvSpPr txBox="1"/>
          <p:nvPr/>
        </p:nvSpPr>
        <p:spPr>
          <a:xfrm>
            <a:off x="3409950" y="286167"/>
            <a:ext cx="84963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4400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B5CF5521-A332-958B-5D84-C777102AFA73}"/>
              </a:ext>
            </a:extLst>
          </p:cNvPr>
          <p:cNvSpPr/>
          <p:nvPr/>
        </p:nvSpPr>
        <p:spPr>
          <a:xfrm rot="18641781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A9FB852-C041-B25E-7E98-E99D98B8140B}"/>
              </a:ext>
            </a:extLst>
          </p:cNvPr>
          <p:cNvSpPr txBox="1"/>
          <p:nvPr/>
        </p:nvSpPr>
        <p:spPr>
          <a:xfrm>
            <a:off x="1651819" y="0"/>
            <a:ext cx="102544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2 - Descrever usuários e as funcionalidades do software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945962-90B2-9AD3-2D01-6D69D962C360}"/>
              </a:ext>
            </a:extLst>
          </p:cNvPr>
          <p:cNvSpPr txBox="1"/>
          <p:nvPr/>
        </p:nvSpPr>
        <p:spPr>
          <a:xfrm>
            <a:off x="2762250" y="4263509"/>
            <a:ext cx="9163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 modelo conceitual do nosso projeto Conecta Mentes é baseado em </a:t>
            </a:r>
            <a:r>
              <a:rPr lang="pt-BR" sz="3600" dirty="0">
                <a:solidFill>
                  <a:prstClr val="white"/>
                </a:solidFill>
                <a:latin typeface="Georgia" panose="02040502050405020303" pitchFamily="18" charset="0"/>
              </a:rPr>
              <a:t>quatro</a:t>
            </a: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perfis de usuários, cada um com necessidades e permissões específicas: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50E26D-8573-AB4E-34D7-C2DD2184CCE3}"/>
              </a:ext>
            </a:extLst>
          </p:cNvPr>
          <p:cNvSpPr txBox="1"/>
          <p:nvPr/>
        </p:nvSpPr>
        <p:spPr>
          <a:xfrm>
            <a:off x="2895601" y="2126078"/>
            <a:ext cx="90296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Descrições dos usuários/clientes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5FD14C-7A0C-9ADB-4EB6-FA543B3CE01E}"/>
              </a:ext>
            </a:extLst>
          </p:cNvPr>
          <p:cNvSpPr txBox="1"/>
          <p:nvPr/>
        </p:nvSpPr>
        <p:spPr>
          <a:xfrm>
            <a:off x="2184689" y="7144167"/>
            <a:ext cx="972156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Mãe/Pais/Cuidador: Pessoa responsável pela criança com deficiência, buscando orientação e suporte especializado.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Professora/Educadora: Profissional da educação que lida com a criança com deficiência, buscando suporte e estratégias pedagógicas, realizando um documento colaborativo para atender às necessidades específicas do aluno.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6138C0-A10D-6077-2F11-5827B062F6FA}"/>
              </a:ext>
            </a:extLst>
          </p:cNvPr>
          <p:cNvSpPr txBox="1"/>
          <p:nvPr/>
        </p:nvSpPr>
        <p:spPr>
          <a:xfrm>
            <a:off x="2490789" y="-6646817"/>
            <a:ext cx="9415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>
                <a:solidFill>
                  <a:schemeClr val="bg1"/>
                </a:solidFill>
                <a:latin typeface="Georgia" panose="02040502050405020303" pitchFamily="18" charset="0"/>
              </a:rPr>
              <a:t>O software vai proporcionar uma experiência simples e acessível para o usuário, garantindo que o acesso à orientação e o suporte especializado seja focado nas necessidades específicas de cada usuário e de cada criança.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00F1E5B-DD5B-75F4-56AA-D6852B68A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411" y="-3736721"/>
            <a:ext cx="4390103" cy="329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86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0C5F1-60C6-6B15-0521-66D60221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CE678398-06E5-5F55-FAC4-02DA53B91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0CABAD-E368-E473-F504-8F55E7140906}"/>
              </a:ext>
            </a:extLst>
          </p:cNvPr>
          <p:cNvSpPr txBox="1"/>
          <p:nvPr/>
        </p:nvSpPr>
        <p:spPr>
          <a:xfrm>
            <a:off x="3409950" y="286167"/>
            <a:ext cx="84963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4400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1BBCD8EA-EA3C-4287-BFF3-63A193991BED}"/>
              </a:ext>
            </a:extLst>
          </p:cNvPr>
          <p:cNvSpPr/>
          <p:nvPr/>
        </p:nvSpPr>
        <p:spPr>
          <a:xfrm rot="2226848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D58762-A50B-B92B-1322-D526471E500E}"/>
              </a:ext>
            </a:extLst>
          </p:cNvPr>
          <p:cNvSpPr txBox="1"/>
          <p:nvPr/>
        </p:nvSpPr>
        <p:spPr>
          <a:xfrm>
            <a:off x="2187872" y="380880"/>
            <a:ext cx="980871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Mãe/Pais/Cuidador: </a:t>
            </a: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Pessoa responsável pela criança com deficiência, buscando orientação e suporte especializado.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Professora/Educadora: </a:t>
            </a: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Profissional da educação que lida com a criança com deficiência, buscando suporte e estratégias pedagógicas, realizando um documento colaborativo para atender às necessidades específicas do aluno.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D6D2F8-62E4-86A1-D6D9-E954DC58B99A}"/>
              </a:ext>
            </a:extLst>
          </p:cNvPr>
          <p:cNvSpPr txBox="1"/>
          <p:nvPr/>
        </p:nvSpPr>
        <p:spPr>
          <a:xfrm>
            <a:off x="2172929" y="7387955"/>
            <a:ext cx="971427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Terapeuta/Especialista: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Busca supervisão clínica, discussão de casos e aprofundamento em técnicas terapêuticas específicas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Instituição: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Representantes de escolas, clínicas ou ONGs buscando a Mentora para palestras, workshops ou treinamentos de equipe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621F46-6D87-7C18-3D17-1327CFE33611}"/>
              </a:ext>
            </a:extLst>
          </p:cNvPr>
          <p:cNvSpPr txBox="1"/>
          <p:nvPr/>
        </p:nvSpPr>
        <p:spPr>
          <a:xfrm>
            <a:off x="1613719" y="-6862644"/>
            <a:ext cx="102544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2 - Descrever usuários e as funcionalidades do software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B104B86-7A12-C607-56F7-3CE5557901B1}"/>
              </a:ext>
            </a:extLst>
          </p:cNvPr>
          <p:cNvSpPr txBox="1"/>
          <p:nvPr/>
        </p:nvSpPr>
        <p:spPr>
          <a:xfrm>
            <a:off x="2724150" y="-2599135"/>
            <a:ext cx="9163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 modelo conceitual do nosso projeto Conecta Mentes é baseado em </a:t>
            </a:r>
            <a:r>
              <a:rPr lang="pt-BR" sz="3600" dirty="0">
                <a:solidFill>
                  <a:prstClr val="white"/>
                </a:solidFill>
                <a:latin typeface="Georgia" panose="02040502050405020303" pitchFamily="18" charset="0"/>
              </a:rPr>
              <a:t>quatro</a:t>
            </a: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perfis de usuários, cada um com necessidades e permissões específicas: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ED1CCA-B47D-A700-FA1A-6A246B2D2315}"/>
              </a:ext>
            </a:extLst>
          </p:cNvPr>
          <p:cNvSpPr txBox="1"/>
          <p:nvPr/>
        </p:nvSpPr>
        <p:spPr>
          <a:xfrm>
            <a:off x="2857501" y="-4736566"/>
            <a:ext cx="90296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Descrições dos usuários/clientes</a:t>
            </a:r>
          </a:p>
        </p:txBody>
      </p:sp>
    </p:spTree>
    <p:extLst>
      <p:ext uri="{BB962C8B-B14F-4D97-AF65-F5344CB8AC3E}">
        <p14:creationId xmlns:p14="http://schemas.microsoft.com/office/powerpoint/2010/main" val="153185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6D556-44FC-2FA2-6DA2-891BFD1B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E9B9872B-F7E4-3358-077D-F945570602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0B8D3910-A1F9-A0A2-BE7A-2658DEB58FD5}"/>
              </a:ext>
            </a:extLst>
          </p:cNvPr>
          <p:cNvSpPr/>
          <p:nvPr/>
        </p:nvSpPr>
        <p:spPr>
          <a:xfrm rot="8749004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22369D-CD8C-C415-414B-8CEA35EF1802}"/>
              </a:ext>
            </a:extLst>
          </p:cNvPr>
          <p:cNvSpPr txBox="1"/>
          <p:nvPr/>
        </p:nvSpPr>
        <p:spPr>
          <a:xfrm>
            <a:off x="2235091" y="305068"/>
            <a:ext cx="971427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Terapeuta/Especialista: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Busca supervisão clínica, discussão de casos e aprofundamento em técnicas terapêuticas específicas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Instituição: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Representantes de escolas, clínicas ou ONGs buscando a Mentora para palestras, workshops ou treinamentos de equipe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9CAB21-0B3D-D5FC-4732-CE8A424E2293}"/>
              </a:ext>
            </a:extLst>
          </p:cNvPr>
          <p:cNvSpPr txBox="1"/>
          <p:nvPr/>
        </p:nvSpPr>
        <p:spPr>
          <a:xfrm>
            <a:off x="1992456" y="-7168485"/>
            <a:ext cx="1019954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Mãe/Pais/Cuidador: 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Pessoa responsável pela criança com deficiência, buscando orientação e suporte especializado.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Professora/Educadora: 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Profissional da educação que lida com a criança com deficiência, buscando suporte e estratégias pedagógicas, realizando um documento colaborativo para atender às necessidades específicas do aluno.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F2105B-1071-42B8-EEF3-949967319617}"/>
              </a:ext>
            </a:extLst>
          </p:cNvPr>
          <p:cNvSpPr txBox="1"/>
          <p:nvPr/>
        </p:nvSpPr>
        <p:spPr>
          <a:xfrm>
            <a:off x="3009283" y="8645519"/>
            <a:ext cx="91827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As funcionalidades do nosso software é para otimizar a gestão da agenda da Mentora e garantir uma experiência de agendamento fluida para os requisitantes (Mães, Professoras, Terapeutas e Instituições).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2BCEEF-558D-EA67-AC2F-31FC3F70381C}"/>
              </a:ext>
            </a:extLst>
          </p:cNvPr>
          <p:cNvSpPr txBox="1"/>
          <p:nvPr/>
        </p:nvSpPr>
        <p:spPr>
          <a:xfrm>
            <a:off x="3698974" y="7198969"/>
            <a:ext cx="84930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194519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1223C-9895-7E84-775B-3DD930EE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BA7B2E1A-EA71-2562-8DD1-59877F5E24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1E7DD49F-011F-4C8A-6278-C395A204CF8D}"/>
              </a:ext>
            </a:extLst>
          </p:cNvPr>
          <p:cNvSpPr/>
          <p:nvPr/>
        </p:nvSpPr>
        <p:spPr>
          <a:xfrm rot="13519197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80F8D0-9528-497F-C41B-518657956ACE}"/>
              </a:ext>
            </a:extLst>
          </p:cNvPr>
          <p:cNvSpPr txBox="1"/>
          <p:nvPr/>
        </p:nvSpPr>
        <p:spPr>
          <a:xfrm>
            <a:off x="2711143" y="1431802"/>
            <a:ext cx="91827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As funcionalidades do nosso software é para otimizar a gestão da agenda da Mentora e garantir uma experiência de agendamento fluida para os requisitantes (Mães, Professoras, Terapeutas e Instituições).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CA37D4-22A4-914B-3BF5-A33A898C0AC0}"/>
              </a:ext>
            </a:extLst>
          </p:cNvPr>
          <p:cNvSpPr txBox="1"/>
          <p:nvPr/>
        </p:nvSpPr>
        <p:spPr>
          <a:xfrm>
            <a:off x="3400834" y="66862"/>
            <a:ext cx="84930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Funcionalidades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4E28D6-4567-CB72-088A-1560CAE76C10}"/>
              </a:ext>
            </a:extLst>
          </p:cNvPr>
          <p:cNvSpPr txBox="1"/>
          <p:nvPr/>
        </p:nvSpPr>
        <p:spPr>
          <a:xfrm>
            <a:off x="3147039" y="9765446"/>
            <a:ext cx="87468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Definição de Disponibilidade: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à Mentora configurar seu calendário de trabalho: dias, horários e bloqueios de agenda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almoço, descanso ou compromissos).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Possibilidade de definir e bloquear horários específicos para diferentes tipos de sessões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bloco de 1h para individual; bloco de 2h para institucional; presencial ou online).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BD008F-C210-AAD1-11FA-B5526507C32A}"/>
              </a:ext>
            </a:extLst>
          </p:cNvPr>
          <p:cNvSpPr txBox="1"/>
          <p:nvPr/>
        </p:nvSpPr>
        <p:spPr>
          <a:xfrm>
            <a:off x="2769112" y="7055778"/>
            <a:ext cx="91247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Gestão da Mentora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1122DC-551A-01B7-47EA-0514D3E1AC66}"/>
              </a:ext>
            </a:extLst>
          </p:cNvPr>
          <p:cNvSpPr txBox="1"/>
          <p:nvPr/>
        </p:nvSpPr>
        <p:spPr>
          <a:xfrm>
            <a:off x="2249129" y="-6572263"/>
            <a:ext cx="971427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- Terapeuta/Especialista: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Busca supervisão clínica, discussão de casos e aprofundamento em técnicas terapêuticas específicas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Requisitante – Instituição: 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Representantes de escolas, clínicas ou ONGs buscando a Mentora para palestras, workshops ou treinamentos de equipe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8981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0ACE6-C67D-0ADE-B517-C7B9B261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A3C67BC-26AA-E1A1-39AE-2ACF78F29C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797B1E6C-222F-9C1F-7AAC-7A11A564157D}"/>
              </a:ext>
            </a:extLst>
          </p:cNvPr>
          <p:cNvSpPr/>
          <p:nvPr/>
        </p:nvSpPr>
        <p:spPr>
          <a:xfrm rot="18202998">
            <a:off x="-6326125" y="-1070999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5EDCFB-24FD-2F2A-0DC6-26C96CB33336}"/>
              </a:ext>
            </a:extLst>
          </p:cNvPr>
          <p:cNvSpPr txBox="1"/>
          <p:nvPr/>
        </p:nvSpPr>
        <p:spPr>
          <a:xfrm>
            <a:off x="3272655" y="2475511"/>
            <a:ext cx="87468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Definição de Disponibilidade: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à Mentora configurar seu calendário de trabalho: dias, horários e bloqueios de agenda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almoço, descanso ou compromissos).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Possibilidade de definir e bloquear horários específicos para diferentes tipos de sessões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bloco de 1h para individual; bloco de 2h para institucional; presencial ou online).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0FAB2B-52C0-46B7-FA29-1C9BB07732C1}"/>
              </a:ext>
            </a:extLst>
          </p:cNvPr>
          <p:cNvSpPr txBox="1"/>
          <p:nvPr/>
        </p:nvSpPr>
        <p:spPr>
          <a:xfrm>
            <a:off x="3982065" y="304451"/>
            <a:ext cx="786488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Gestão da Mentora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D61EFC-E8C3-9805-AAC3-2F841BCBFA72}"/>
              </a:ext>
            </a:extLst>
          </p:cNvPr>
          <p:cNvSpPr txBox="1"/>
          <p:nvPr/>
        </p:nvSpPr>
        <p:spPr>
          <a:xfrm>
            <a:off x="2475271" y="-5475709"/>
            <a:ext cx="91827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As funcionalidades do nosso software é para otimizar a gestão da agenda da Mentora e garantir uma experiência de agendamento fluida para os requisitantes (Mães, Professoras, Terapeutas e Instituições).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FEF8EB-465E-39F6-C39D-56C2BF905771}"/>
              </a:ext>
            </a:extLst>
          </p:cNvPr>
          <p:cNvSpPr txBox="1"/>
          <p:nvPr/>
        </p:nvSpPr>
        <p:spPr>
          <a:xfrm>
            <a:off x="3164962" y="-6922259"/>
            <a:ext cx="84930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Funcionalidades</a:t>
            </a:r>
          </a:p>
        </p:txBody>
      </p:sp>
      <p:pic>
        <p:nvPicPr>
          <p:cNvPr id="2050" name="Picture 2" descr="Calendar deadline with clock in a flat design">
            <a:extLst>
              <a:ext uri="{FF2B5EF4-FFF2-40B4-BE49-F238E27FC236}">
                <a16:creationId xmlns:a16="http://schemas.microsoft.com/office/drawing/2014/main" id="{41711011-B7CA-6995-9202-47557F0A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550" y="304451"/>
            <a:ext cx="1540929" cy="128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DFD411A-407C-3CA5-557D-CDCC583B2278}"/>
              </a:ext>
            </a:extLst>
          </p:cNvPr>
          <p:cNvSpPr txBox="1"/>
          <p:nvPr/>
        </p:nvSpPr>
        <p:spPr>
          <a:xfrm>
            <a:off x="3272655" y="7425627"/>
            <a:ext cx="87468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Cadastro de Serviços e Preços: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Funcionalidade para cadastrar os tipos de mentoria oferecidos (</a:t>
            </a:r>
            <a:r>
              <a:rPr kumimoji="0" lang="pt-BR" sz="4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Sessão Individual, Pacote Mensal, Consultoria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Associação dos valores e das durações correspondentes a cada serviço.</a:t>
            </a:r>
          </a:p>
        </p:txBody>
      </p:sp>
    </p:spTree>
    <p:extLst>
      <p:ext uri="{BB962C8B-B14F-4D97-AF65-F5344CB8AC3E}">
        <p14:creationId xmlns:p14="http://schemas.microsoft.com/office/powerpoint/2010/main" val="1857251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81318-70F4-F6D5-6E34-0722679D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D1F1056-9AD1-2C84-E351-7AB519C2A4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4F678AD6-997C-249B-AD17-0B517C5734E3}"/>
              </a:ext>
            </a:extLst>
          </p:cNvPr>
          <p:cNvSpPr/>
          <p:nvPr/>
        </p:nvSpPr>
        <p:spPr>
          <a:xfrm rot="2416024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B0E9B8-46DF-08A3-AC8D-C303B91710E9}"/>
              </a:ext>
            </a:extLst>
          </p:cNvPr>
          <p:cNvSpPr txBox="1"/>
          <p:nvPr/>
        </p:nvSpPr>
        <p:spPr>
          <a:xfrm>
            <a:off x="3143990" y="437846"/>
            <a:ext cx="87468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Cadastro de Serviços e Preços: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Funcionalidade para cadastrar os tipos de mentoria oferecidos (</a:t>
            </a:r>
            <a:r>
              <a:rPr kumimoji="0" lang="pt-BR" sz="4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Sessão Individual, Pacote Mensal, Consultoria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Associação dos valores e das durações correspondentes a cada serviço.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061852-CD9D-6918-800A-7C7852680E59}"/>
              </a:ext>
            </a:extLst>
          </p:cNvPr>
          <p:cNvSpPr txBox="1"/>
          <p:nvPr/>
        </p:nvSpPr>
        <p:spPr>
          <a:xfrm>
            <a:off x="3143989" y="-3900452"/>
            <a:ext cx="87468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Definição de Disponibilidade: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à Mentora configurar seu calendário de trabalho: dias, horários e bloqueios de agenda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almoço, descanso ou compromissos).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Possibilidade de definir e bloquear horários específicos para diferentes tipos de sessões (</a:t>
            </a:r>
            <a:r>
              <a:rPr kumimoji="0" 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bloco de 1h para individual; bloco de 2h para institucional; presencial ou online).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3684BD5-028A-1995-E40B-03D4057F0005}"/>
              </a:ext>
            </a:extLst>
          </p:cNvPr>
          <p:cNvSpPr txBox="1"/>
          <p:nvPr/>
        </p:nvSpPr>
        <p:spPr>
          <a:xfrm>
            <a:off x="3853399" y="-6071512"/>
            <a:ext cx="786488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Gestão da Mentora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E8AEFC-D474-46BE-D128-080FE8F05218}"/>
              </a:ext>
            </a:extLst>
          </p:cNvPr>
          <p:cNvSpPr txBox="1"/>
          <p:nvPr/>
        </p:nvSpPr>
        <p:spPr>
          <a:xfrm>
            <a:off x="2593537" y="7219022"/>
            <a:ext cx="91247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Agendamento e Reserva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3AF6B5-E045-4C58-761E-DCE387167CCC}"/>
              </a:ext>
            </a:extLst>
          </p:cNvPr>
          <p:cNvSpPr txBox="1"/>
          <p:nvPr/>
        </p:nvSpPr>
        <p:spPr>
          <a:xfrm>
            <a:off x="2970110" y="9158014"/>
            <a:ext cx="87468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Visualização da Agenda: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Exibe de forma clara com os horários e dias disponíveis da Mentora, filtrados pelo tipo de serviço que o Mentorado deseja (individual ou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selecione a data e o horário desejado com apenas alguns cliques.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Confirmação Imediata: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Gera uma confirmação da reserva após o pagamento (ou verificação de pacote) ser efetuado.</a:t>
            </a:r>
          </a:p>
        </p:txBody>
      </p:sp>
    </p:spTree>
    <p:extLst>
      <p:ext uri="{BB962C8B-B14F-4D97-AF65-F5344CB8AC3E}">
        <p14:creationId xmlns:p14="http://schemas.microsoft.com/office/powerpoint/2010/main" val="635121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1A206-B40F-CB4B-8F0C-D6F598C8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B9B3E743-D9CD-B905-AED9-95DAC4C5C3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FA8549D0-944C-4C7C-ED90-2FF8E1D61206}"/>
              </a:ext>
            </a:extLst>
          </p:cNvPr>
          <p:cNvSpPr/>
          <p:nvPr/>
        </p:nvSpPr>
        <p:spPr>
          <a:xfrm rot="8396768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1ACBB7-F08D-9D04-77A2-C11FA050257C}"/>
              </a:ext>
            </a:extLst>
          </p:cNvPr>
          <p:cNvSpPr txBox="1"/>
          <p:nvPr/>
        </p:nvSpPr>
        <p:spPr>
          <a:xfrm>
            <a:off x="2766062" y="40619"/>
            <a:ext cx="91247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Agendamento e Reserva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6FB6A2-7554-766F-5CA4-D646EF1AC45B}"/>
              </a:ext>
            </a:extLst>
          </p:cNvPr>
          <p:cNvSpPr txBox="1"/>
          <p:nvPr/>
        </p:nvSpPr>
        <p:spPr>
          <a:xfrm>
            <a:off x="3142635" y="1979611"/>
            <a:ext cx="87468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Visualização da Agenda: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Exibe de forma clara com os horários e dias disponíveis da Mentora, filtrados pelo tipo de serviço que o Mentorado deseja (individual ou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selecione a data e o horário desejado com apenas alguns cliques.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Confirmação Imediata: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Gera uma confirmação da reserva após o pagamento (ou verificação de pacote) ser efetuado.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219FCA-83E6-E7C6-142A-0269CD5E7F46}"/>
              </a:ext>
            </a:extLst>
          </p:cNvPr>
          <p:cNvSpPr txBox="1"/>
          <p:nvPr/>
        </p:nvSpPr>
        <p:spPr>
          <a:xfrm>
            <a:off x="3503847" y="6919779"/>
            <a:ext cx="838560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Cancelamento</a:t>
            </a: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ao Mentorado gerenciar a sessão agendada, possibilitando o cancelamento de acordo com as regras (política de uso e prazos) estipuladas pela Mentora.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82C80F-9D50-4969-A270-643C4D053394}"/>
              </a:ext>
            </a:extLst>
          </p:cNvPr>
          <p:cNvSpPr txBox="1"/>
          <p:nvPr/>
        </p:nvSpPr>
        <p:spPr>
          <a:xfrm>
            <a:off x="3135267" y="-6532029"/>
            <a:ext cx="87468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Cadastro de Serviços e Preços: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Funcionalidade para cadastrar os tipos de mentoria oferecidos (</a:t>
            </a:r>
            <a:r>
              <a:rPr kumimoji="0" lang="pt-BR" sz="4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</a:t>
            </a: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Sessão Individual, Pacote Mensal, Consultoria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Associação dos valores e das durações correspondentes a cada serviço.</a:t>
            </a:r>
          </a:p>
        </p:txBody>
      </p:sp>
    </p:spTree>
    <p:extLst>
      <p:ext uri="{BB962C8B-B14F-4D97-AF65-F5344CB8AC3E}">
        <p14:creationId xmlns:p14="http://schemas.microsoft.com/office/powerpoint/2010/main" val="699279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C5C96-BEC4-3795-6D26-55FD0238D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A56F76F8-C4C5-5808-4B89-CD87B90CC8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8E3F86CF-37AC-F7F1-3C9E-E5444081263D}"/>
              </a:ext>
            </a:extLst>
          </p:cNvPr>
          <p:cNvSpPr/>
          <p:nvPr/>
        </p:nvSpPr>
        <p:spPr>
          <a:xfrm rot="13451644">
            <a:off x="-6063359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993E79-780C-693A-B5FF-FEDA5B86204F}"/>
              </a:ext>
            </a:extLst>
          </p:cNvPr>
          <p:cNvSpPr txBox="1"/>
          <p:nvPr/>
        </p:nvSpPr>
        <p:spPr>
          <a:xfrm>
            <a:off x="2754363" y="1228397"/>
            <a:ext cx="91247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Cancelamento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ao Mentorado gerenciar a sessão agendada, possibilitando o cancelamento de acordo com as regras (política de uso e prazos) estipuladas pela Mentora.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3C2A52-0761-EF16-3295-44E12C89D8D0}"/>
              </a:ext>
            </a:extLst>
          </p:cNvPr>
          <p:cNvSpPr txBox="1"/>
          <p:nvPr/>
        </p:nvSpPr>
        <p:spPr>
          <a:xfrm>
            <a:off x="2754363" y="7058165"/>
            <a:ext cx="91247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Financeiro e Pagamento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5996AB-A833-3A3F-634A-A7E83302F60D}"/>
              </a:ext>
            </a:extLst>
          </p:cNvPr>
          <p:cNvSpPr txBox="1"/>
          <p:nvPr/>
        </p:nvSpPr>
        <p:spPr>
          <a:xfrm>
            <a:off x="2754363" y="9184077"/>
            <a:ext cx="9124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Pagamento Integrado: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o pagamento seguro e imediato da sessão ou do pacote no momento do agendamento, validando a reserva (sendo a forma de pagamento apenas Pix).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55BAD4-C719-0377-67A6-1ED68D650518}"/>
              </a:ext>
            </a:extLst>
          </p:cNvPr>
          <p:cNvSpPr txBox="1"/>
          <p:nvPr/>
        </p:nvSpPr>
        <p:spPr>
          <a:xfrm>
            <a:off x="2755718" y="-6481061"/>
            <a:ext cx="91247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Agendamento e Reserva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75EC56-D2CF-6D46-1582-BD4E75C087FC}"/>
              </a:ext>
            </a:extLst>
          </p:cNvPr>
          <p:cNvSpPr txBox="1"/>
          <p:nvPr/>
        </p:nvSpPr>
        <p:spPr>
          <a:xfrm>
            <a:off x="3132291" y="-4542069"/>
            <a:ext cx="87468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Visualização da Agenda: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Exibe de forma clara com os horários e dias disponíveis da Mentora, filtrados pelo tipo de serviço que o Mentorado deseja (individual ou institucional).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selecione a data e o horário desejado com apenas alguns cliques.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Confirmação Imediata: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Gera uma confirmação da reserva após o pagamento (ou verificação de pacote) ser efetuado.</a:t>
            </a:r>
          </a:p>
        </p:txBody>
      </p:sp>
    </p:spTree>
    <p:extLst>
      <p:ext uri="{BB962C8B-B14F-4D97-AF65-F5344CB8AC3E}">
        <p14:creationId xmlns:p14="http://schemas.microsoft.com/office/powerpoint/2010/main" val="1324514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268B4-E230-6117-6CA0-4CEBAD7C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AA6ABAB-4854-A895-3401-3D6D32B5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09579EB2-8174-401A-33BD-15AFB765FB6D}"/>
              </a:ext>
            </a:extLst>
          </p:cNvPr>
          <p:cNvSpPr/>
          <p:nvPr/>
        </p:nvSpPr>
        <p:spPr>
          <a:xfrm rot="19126368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8B093F7-E30B-8E21-AD1B-FBBC9697CCB0}"/>
              </a:ext>
            </a:extLst>
          </p:cNvPr>
          <p:cNvSpPr txBox="1"/>
          <p:nvPr/>
        </p:nvSpPr>
        <p:spPr>
          <a:xfrm>
            <a:off x="2766061" y="288552"/>
            <a:ext cx="91247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Financeiro e Pagamento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CF052B-9B22-0B53-FC93-F3256FCEA294}"/>
              </a:ext>
            </a:extLst>
          </p:cNvPr>
          <p:cNvSpPr txBox="1"/>
          <p:nvPr/>
        </p:nvSpPr>
        <p:spPr>
          <a:xfrm>
            <a:off x="2766061" y="1217358"/>
            <a:ext cx="91247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Pagamento Integrado: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o pagamento seguro e imediato da sessão ou do pacote no momento do agendamento, validando a reserva (sendo a forma de pagamento apenas Pix).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579E19-151F-EEB4-FF84-583C152A29C0}"/>
              </a:ext>
            </a:extLst>
          </p:cNvPr>
          <p:cNvSpPr txBox="1"/>
          <p:nvPr/>
        </p:nvSpPr>
        <p:spPr>
          <a:xfrm>
            <a:off x="3505200" y="-5843450"/>
            <a:ext cx="838560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Cancelamento</a:t>
            </a: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ao Mentorado gerenciar a sessão agendada, possibilitando o cancelamento de acordo com as regras (política de uso e prazos) estipuladas pela Mentora.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29D083-D679-8093-A566-2CD649E42EDF}"/>
              </a:ext>
            </a:extLst>
          </p:cNvPr>
          <p:cNvSpPr txBox="1"/>
          <p:nvPr/>
        </p:nvSpPr>
        <p:spPr>
          <a:xfrm>
            <a:off x="2249704" y="7146552"/>
            <a:ext cx="9490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Comunicação e Conteúdo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6E63B8-8345-2471-5BC0-CBB5D3EEAD5D}"/>
              </a:ext>
            </a:extLst>
          </p:cNvPr>
          <p:cNvSpPr txBox="1"/>
          <p:nvPr/>
        </p:nvSpPr>
        <p:spPr>
          <a:xfrm>
            <a:off x="2745004" y="9428594"/>
            <a:ext cx="91458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Chat Interno: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Canal de comunicação seguro e privado para troca de mensagens para comunicar qual tipo de mentoria a pessoa necessita.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Feedback: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avalie a sessão após a conclusão, fornecendo feedback construtivo à Mentora.</a:t>
            </a:r>
          </a:p>
        </p:txBody>
      </p:sp>
      <p:pic>
        <p:nvPicPr>
          <p:cNvPr id="8194" name="Picture 2" descr="Disney's Scrooge McDuck. Magazine Poster. &#10;                        Dollar symbol. Coins. Very rich man. Rico McDuck. Uncle Rico. Donald Duck's uncle. Cartoon characters from Walt Disney Pictures Studios. Sign.  Penny pincher">
            <a:extLst>
              <a:ext uri="{FF2B5EF4-FFF2-40B4-BE49-F238E27FC236}">
                <a16:creationId xmlns:a16="http://schemas.microsoft.com/office/drawing/2014/main" id="{FF0474CC-48F9-D132-CA05-631B41C2F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406" y="4201605"/>
            <a:ext cx="3429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080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6EC7C-7618-D2F9-231A-194DACFF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486C2F2-14D6-41EC-F84A-B2AA995BC9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Forma Livre: Forma 6">
            <a:extLst>
              <a:ext uri="{FF2B5EF4-FFF2-40B4-BE49-F238E27FC236}">
                <a16:creationId xmlns:a16="http://schemas.microsoft.com/office/drawing/2014/main" id="{3F86B137-838A-ED1D-4468-ADF6B06D5759}"/>
              </a:ext>
            </a:extLst>
          </p:cNvPr>
          <p:cNvSpPr/>
          <p:nvPr/>
        </p:nvSpPr>
        <p:spPr>
          <a:xfrm rot="2358735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70B64E-0964-7328-D27A-484C9F52271E}"/>
              </a:ext>
            </a:extLst>
          </p:cNvPr>
          <p:cNvSpPr txBox="1"/>
          <p:nvPr/>
        </p:nvSpPr>
        <p:spPr>
          <a:xfrm>
            <a:off x="2400300" y="-40390"/>
            <a:ext cx="949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Comunicação e Conteúdo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6CAA99-DFA6-E9C1-3739-689C72D248EF}"/>
              </a:ext>
            </a:extLst>
          </p:cNvPr>
          <p:cNvSpPr txBox="1"/>
          <p:nvPr/>
        </p:nvSpPr>
        <p:spPr>
          <a:xfrm>
            <a:off x="2745004" y="3405127"/>
            <a:ext cx="91458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Chat Interno: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Canal de comunicação seguro e privado para troca de mensagens para comunicar qual tipo de mentoria a pessoa necessita.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Feedback: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avalie a sessão após a conclusão, fornecendo feedback construtivo à Mentora.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92EABE0-C0D4-438F-C3BF-4B23E78EF60D}"/>
              </a:ext>
            </a:extLst>
          </p:cNvPr>
          <p:cNvSpPr txBox="1"/>
          <p:nvPr/>
        </p:nvSpPr>
        <p:spPr>
          <a:xfrm>
            <a:off x="3067252" y="-6321286"/>
            <a:ext cx="91247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Financeiro e Pagamento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48C3E7-C18A-6C6C-9B37-0AFF57721EAF}"/>
              </a:ext>
            </a:extLst>
          </p:cNvPr>
          <p:cNvSpPr txBox="1"/>
          <p:nvPr/>
        </p:nvSpPr>
        <p:spPr>
          <a:xfrm>
            <a:off x="3067252" y="-4195374"/>
            <a:ext cx="9124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Pagamento Integrado: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o pagamento seguro e imediato da sessão ou do pacote no momento do agendamento, validando a reserva (sendo a forma de pagamento apenas Pix).</a:t>
            </a:r>
          </a:p>
        </p:txBody>
      </p:sp>
      <p:pic>
        <p:nvPicPr>
          <p:cNvPr id="9218" name="Picture 2" descr="speech bubble icon for web chat and communication">
            <a:extLst>
              <a:ext uri="{FF2B5EF4-FFF2-40B4-BE49-F238E27FC236}">
                <a16:creationId xmlns:a16="http://schemas.microsoft.com/office/drawing/2014/main" id="{7F2B9B3A-D61C-F9E6-E8F2-046CE91E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818" y="940983"/>
            <a:ext cx="1583666" cy="158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B3C73B2-97E2-FFCF-56A8-184E1F8A5EFF}"/>
              </a:ext>
            </a:extLst>
          </p:cNvPr>
          <p:cNvSpPr txBox="1"/>
          <p:nvPr/>
        </p:nvSpPr>
        <p:spPr>
          <a:xfrm>
            <a:off x="2857500" y="7394148"/>
            <a:ext cx="90333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4 - Modelo Entidade Relacionamento.</a:t>
            </a:r>
          </a:p>
        </p:txBody>
      </p:sp>
    </p:spTree>
    <p:extLst>
      <p:ext uri="{BB962C8B-B14F-4D97-AF65-F5344CB8AC3E}">
        <p14:creationId xmlns:p14="http://schemas.microsoft.com/office/powerpoint/2010/main" val="1241167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E4037-F3C9-E410-21A9-71641A8E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DC5CD788-33FF-6ABD-102D-9AC17460AC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739F1E0-7F4A-CA27-5B07-DF3D5FB843B8}"/>
              </a:ext>
            </a:extLst>
          </p:cNvPr>
          <p:cNvSpPr txBox="1"/>
          <p:nvPr/>
        </p:nvSpPr>
        <p:spPr>
          <a:xfrm>
            <a:off x="2667000" y="1166842"/>
            <a:ext cx="90333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4 - Modelo Entidade Relacionamento.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45387C-167C-B3D9-4EB2-02EAD0FD7C00}"/>
              </a:ext>
            </a:extLst>
          </p:cNvPr>
          <p:cNvSpPr txBox="1"/>
          <p:nvPr/>
        </p:nvSpPr>
        <p:spPr>
          <a:xfrm>
            <a:off x="2209800" y="-7090119"/>
            <a:ext cx="949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Módulo de Comunicação e Conteúdo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B7A8AB-82B5-999F-9B24-234EABB253CC}"/>
              </a:ext>
            </a:extLst>
          </p:cNvPr>
          <p:cNvSpPr txBox="1"/>
          <p:nvPr/>
        </p:nvSpPr>
        <p:spPr>
          <a:xfrm>
            <a:off x="2554504" y="-3644602"/>
            <a:ext cx="91458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Chat Interno: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Canal de comunicação seguro e privado para troca de mensagens para comunicar qual tipo de mentoria a pessoa necessita.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Feedback: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	Permite que o Mentorado avalie a sessão após a conclusão, fornecendo feedback construtivo à Mentora.</a:t>
            </a:r>
          </a:p>
        </p:txBody>
      </p:sp>
      <p:pic>
        <p:nvPicPr>
          <p:cNvPr id="5" name="Picture 2" descr="speech bubble icon for web chat and communication">
            <a:extLst>
              <a:ext uri="{FF2B5EF4-FFF2-40B4-BE49-F238E27FC236}">
                <a16:creationId xmlns:a16="http://schemas.microsoft.com/office/drawing/2014/main" id="{B0AF44A0-7661-AFD4-C0E0-755F11DAC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318" y="-6108746"/>
            <a:ext cx="1583666" cy="158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726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77D66-2AD8-9EF2-81DE-161F7ECB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5BCA987-A8A3-B91E-E62C-98391F2B75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1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08470A-2FB6-30AA-AFD1-A8B0CF079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2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2F26-C477-8459-0262-7638BECD3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3B43BB5-DD96-8EEC-128A-900F25070D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ED8C0E-418E-3E0A-7A93-DC095DBADEF0}"/>
              </a:ext>
            </a:extLst>
          </p:cNvPr>
          <p:cNvSpPr txBox="1"/>
          <p:nvPr/>
        </p:nvSpPr>
        <p:spPr>
          <a:xfrm>
            <a:off x="361950" y="1720840"/>
            <a:ext cx="11468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Seção 5 - Esquema Relacional e Decisões de Mapeamento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(MER → ER).</a:t>
            </a:r>
          </a:p>
        </p:txBody>
      </p:sp>
    </p:spTree>
    <p:extLst>
      <p:ext uri="{BB962C8B-B14F-4D97-AF65-F5344CB8AC3E}">
        <p14:creationId xmlns:p14="http://schemas.microsoft.com/office/powerpoint/2010/main" val="2634879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DA3B8-09DA-712C-7578-894E1FFC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D8606EFA-50D0-EE24-251C-9471A7E5A5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A45B33-D211-2C4A-8F44-A6307C77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27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BFB86AF-CECF-7E0D-4129-3DD97CAA50C2}"/>
              </a:ext>
            </a:extLst>
          </p:cNvPr>
          <p:cNvSpPr txBox="1"/>
          <p:nvPr/>
        </p:nvSpPr>
        <p:spPr>
          <a:xfrm>
            <a:off x="2701492" y="6896100"/>
            <a:ext cx="949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Decisões de Mapeamento (MER → ER)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FFACF0-8F0B-906C-E02A-0A1A366CB2F7}"/>
              </a:ext>
            </a:extLst>
          </p:cNvPr>
          <p:cNvSpPr txBox="1"/>
          <p:nvPr/>
        </p:nvSpPr>
        <p:spPr>
          <a:xfrm>
            <a:off x="3046196" y="8898745"/>
            <a:ext cx="914580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1. Generalização/Especialização (Pessoa)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A entidade Pessoa é a superclasse para as subclasses Pais/Cuidadores, Terapeuta/Especialista e Professores/Educadores.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Uma Tabela para a Superclasse e Uma Tabela para Cada Subclasse.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 tabela PESSOA armazena atributos comuns e a PK.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Cada subclasse se torna uma tabela que herda a PK da PESSOA como sua PK e FK, adicionando seus atributos específicos. Isso é ideal para evitar muitos campos nulos na tabela PESSOA.</a:t>
            </a:r>
          </a:p>
        </p:txBody>
      </p:sp>
    </p:spTree>
    <p:extLst>
      <p:ext uri="{BB962C8B-B14F-4D97-AF65-F5344CB8AC3E}">
        <p14:creationId xmlns:p14="http://schemas.microsoft.com/office/powerpoint/2010/main" val="784497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741F9-9AF1-9567-F565-66310DE3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45EB5357-434A-9FFD-E685-31D11F63E8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FEDE6C-FD22-A470-1B02-1C400C2141E0}"/>
              </a:ext>
            </a:extLst>
          </p:cNvPr>
          <p:cNvSpPr txBox="1"/>
          <p:nvPr/>
        </p:nvSpPr>
        <p:spPr>
          <a:xfrm>
            <a:off x="2400300" y="-40390"/>
            <a:ext cx="949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Decisões de Mapeamento (MER → ER)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3D71E26-1426-4B9E-0E8B-4B5A56F29C98}"/>
              </a:ext>
            </a:extLst>
          </p:cNvPr>
          <p:cNvSpPr txBox="1"/>
          <p:nvPr/>
        </p:nvSpPr>
        <p:spPr>
          <a:xfrm>
            <a:off x="2745004" y="1962255"/>
            <a:ext cx="914580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1. Generalização/Especialização (Pessoa)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A entidade Pessoa é a superclasse para as subclasses Pais/Cuidadores, Terapeuta/Especialista e Professores/Educadores.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Uma Tabela para a Superclasse e Uma Tabela para Cada Subclasse.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 tabela PESSOA armazena atributos comuns e a PK.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Cada subclasse se torna uma tabela que herda a PK da PESSOA como sua PK e FK, adicionando seus atributos específicos. Isso é ideal para evitar muitos campos nulos na tabela PESSOA.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606099-0AF3-F300-8B40-5721FA9ED9AF}"/>
              </a:ext>
            </a:extLst>
          </p:cNvPr>
          <p:cNvSpPr txBox="1"/>
          <p:nvPr/>
        </p:nvSpPr>
        <p:spPr>
          <a:xfrm>
            <a:off x="2400300" y="7324278"/>
            <a:ext cx="94905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2. Relacionamentos 1:N</a:t>
            </a: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CUIDA (Pais/Cuidadores 1:N Criança): A PK de PAIS/CUIDADORES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ATENDE (Terapeuta/Especialista 1:N Criança): A PK de TERAPEUTA/ESPECIALISTA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LECIONA (Professores/Educadores 1:N Instituição): A PK de PROFESSORES/EDUCADORES deve ir para INSTITUIÇÃO.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3. Relacionamentos 0:N (Onde N&gt;1)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O relacionamento AGENDAR (Criança M:N Agendamento) é na verdade um relacionamento 0:N entre CRIANÇAS e INSTITUICÃO através da entidade associativa AGENDAMENTO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O Agendamento será mapeado como uma Entidade de Ligação (Tabela 0:N), com sua própria PK (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ID_Agendamento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e as 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FKs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das entidades que conecta (Criança e Instituição).</a:t>
            </a:r>
          </a:p>
        </p:txBody>
      </p:sp>
      <p:sp useBgFill="1">
        <p:nvSpPr>
          <p:cNvPr id="3" name="Forma Livre: Forma 2">
            <a:extLst>
              <a:ext uri="{FF2B5EF4-FFF2-40B4-BE49-F238E27FC236}">
                <a16:creationId xmlns:a16="http://schemas.microsoft.com/office/drawing/2014/main" id="{D9B7A186-1371-80E0-5ABD-55BD53225531}"/>
              </a:ext>
            </a:extLst>
          </p:cNvPr>
          <p:cNvSpPr/>
          <p:nvPr/>
        </p:nvSpPr>
        <p:spPr>
          <a:xfrm rot="2358735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401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F1270-2A83-E1BA-424C-ECB98B50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E5732B5-E564-9D29-A91F-F8D278F3B6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622E16-0B45-03B1-3F00-ABF1E24E056D}"/>
              </a:ext>
            </a:extLst>
          </p:cNvPr>
          <p:cNvSpPr txBox="1"/>
          <p:nvPr/>
        </p:nvSpPr>
        <p:spPr>
          <a:xfrm>
            <a:off x="2400300" y="428178"/>
            <a:ext cx="94905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2. Relacionamentos 1:N</a:t>
            </a: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CUIDA (Pais/Cuidadores 1:N Criança): A PK de PAIS/CUIDADORES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ATENDE (Terapeuta/Especialista 1:N Criança): A PK de TERAPEUTA/ESPECIALISTA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LECIONA (Professores/Educadores 1:N Instituição): A PK de PROFESSORES/EDUCADORES deve ir para INSTITUIÇÃO.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3. Relacionamentos 0:N (Onde N&gt;1)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O relacionamento AGENDAR (Criança M:N Agendamento) é na verdade um relacionamento 0:N entre CRIANÇAS e INSTITUICÃO através da entidade associativa AGENDAMENTO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O Agendamento será mapeado como uma Entidade de Ligação (Tabela 0:N), com sua própria PK (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ID_Agendamento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e as 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FKs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das entidades que conecta (Criança e Instituição).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CBD882-D62E-1952-907E-D06DB5904A39}"/>
              </a:ext>
            </a:extLst>
          </p:cNvPr>
          <p:cNvSpPr txBox="1"/>
          <p:nvPr/>
        </p:nvSpPr>
        <p:spPr>
          <a:xfrm>
            <a:off x="2400300" y="-7352656"/>
            <a:ext cx="94905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Decisões de Mapeamento (MER → ER)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5E30D8-01E2-F853-F0F4-2F6C8D022A6C}"/>
              </a:ext>
            </a:extLst>
          </p:cNvPr>
          <p:cNvSpPr txBox="1"/>
          <p:nvPr/>
        </p:nvSpPr>
        <p:spPr>
          <a:xfrm>
            <a:off x="2745004" y="-5350011"/>
            <a:ext cx="914580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1. Generalização/Especialização (Pessoa)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A entidade Pessoa é a superclasse para as subclasses Pais/Cuidadores, Terapeuta/Especialista e Professores/Educadores.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Uma Tabela para a Superclasse e Uma Tabela para Cada Subclasse.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 tabela PESSOA armazena atributos comuns e a PK.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Cada subclasse se torna uma tabela que herda a PK da PESSOA como sua PK e FK, adicionando seus atributos específicos. Isso é ideal para evitar muitos campos nulos na tabela PESSOA.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4DCD75-B848-000A-B176-F0A9AE199F16}"/>
              </a:ext>
            </a:extLst>
          </p:cNvPr>
          <p:cNvSpPr txBox="1"/>
          <p:nvPr/>
        </p:nvSpPr>
        <p:spPr>
          <a:xfrm>
            <a:off x="1617233" y="7286178"/>
            <a:ext cx="92231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Obrigado pela atenção</a:t>
            </a:r>
          </a:p>
        </p:txBody>
      </p:sp>
      <p:pic>
        <p:nvPicPr>
          <p:cNvPr id="5" name="Picture 2" descr="Fim Do Slide Perguntas? Fazem O Pix Primeiro - Meme - Criarmeme.com.br">
            <a:extLst>
              <a:ext uri="{FF2B5EF4-FFF2-40B4-BE49-F238E27FC236}">
                <a16:creationId xmlns:a16="http://schemas.microsoft.com/office/drawing/2014/main" id="{F1BE9029-D5C1-D4EB-B320-7C90FD837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759" y="8838218"/>
            <a:ext cx="4638049" cy="46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EM CASO DE DÚVIDA: LEIA OS SLIDES NOVAMENTE - Gerador de Memes Online">
            <a:extLst>
              <a:ext uri="{FF2B5EF4-FFF2-40B4-BE49-F238E27FC236}">
                <a16:creationId xmlns:a16="http://schemas.microsoft.com/office/drawing/2014/main" id="{424DDBE1-EEE2-D066-A8E1-7891BE7F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35" y="8838218"/>
            <a:ext cx="4638049" cy="46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9" name="Forma Livre: Forma 8">
            <a:extLst>
              <a:ext uri="{FF2B5EF4-FFF2-40B4-BE49-F238E27FC236}">
                <a16:creationId xmlns:a16="http://schemas.microsoft.com/office/drawing/2014/main" id="{599393DB-7B82-0487-A6DA-5B538D5D29BB}"/>
              </a:ext>
            </a:extLst>
          </p:cNvPr>
          <p:cNvSpPr/>
          <p:nvPr/>
        </p:nvSpPr>
        <p:spPr>
          <a:xfrm rot="8482285">
            <a:off x="-6177660" y="-1071000"/>
            <a:ext cx="9000000" cy="9000000"/>
          </a:xfrm>
          <a:custGeom>
            <a:avLst/>
            <a:gdLst>
              <a:gd name="connsiteX0" fmla="*/ 4805836 w 7272338"/>
              <a:gd name="connsiteY0" fmla="*/ 4144870 h 7220557"/>
              <a:gd name="connsiteX1" fmla="*/ 7232473 w 7272338"/>
              <a:gd name="connsiteY1" fmla="*/ 4144870 h 7220557"/>
              <a:gd name="connsiteX2" fmla="*/ 7230441 w 7272338"/>
              <a:gd name="connsiteY2" fmla="*/ 4160767 h 7220557"/>
              <a:gd name="connsiteX3" fmla="*/ 3823286 w 7272338"/>
              <a:gd name="connsiteY3" fmla="*/ 7220313 h 7220557"/>
              <a:gd name="connsiteX4" fmla="*/ 3813572 w 7272338"/>
              <a:gd name="connsiteY4" fmla="*/ 7220557 h 7220557"/>
              <a:gd name="connsiteX5" fmla="*/ 3813572 w 7272338"/>
              <a:gd name="connsiteY5" fmla="*/ 4866404 h 7220557"/>
              <a:gd name="connsiteX6" fmla="*/ 3896336 w 7272338"/>
              <a:gd name="connsiteY6" fmla="*/ 4853983 h 7220557"/>
              <a:gd name="connsiteX7" fmla="*/ 4771288 w 7272338"/>
              <a:gd name="connsiteY7" fmla="*/ 4215395 h 7220557"/>
              <a:gd name="connsiteX8" fmla="*/ 39865 w 7272338"/>
              <a:gd name="connsiteY8" fmla="*/ 4144870 h 7220557"/>
              <a:gd name="connsiteX9" fmla="*/ 2466503 w 7272338"/>
              <a:gd name="connsiteY9" fmla="*/ 4144870 h 7220557"/>
              <a:gd name="connsiteX10" fmla="*/ 2501050 w 7272338"/>
              <a:gd name="connsiteY10" fmla="*/ 4215395 h 7220557"/>
              <a:gd name="connsiteX11" fmla="*/ 3376003 w 7272338"/>
              <a:gd name="connsiteY11" fmla="*/ 4853983 h 7220557"/>
              <a:gd name="connsiteX12" fmla="*/ 3458764 w 7272338"/>
              <a:gd name="connsiteY12" fmla="*/ 4866404 h 7220557"/>
              <a:gd name="connsiteX13" fmla="*/ 3458764 w 7272338"/>
              <a:gd name="connsiteY13" fmla="*/ 7220557 h 7220557"/>
              <a:gd name="connsiteX14" fmla="*/ 3449053 w 7272338"/>
              <a:gd name="connsiteY14" fmla="*/ 7220313 h 7220557"/>
              <a:gd name="connsiteX15" fmla="*/ 41897 w 7272338"/>
              <a:gd name="connsiteY15" fmla="*/ 4160767 h 7220557"/>
              <a:gd name="connsiteX16" fmla="*/ 3458764 w 7272338"/>
              <a:gd name="connsiteY16" fmla="*/ 0 h 7220557"/>
              <a:gd name="connsiteX17" fmla="*/ 3458764 w 7272338"/>
              <a:gd name="connsiteY17" fmla="*/ 2354153 h 7220557"/>
              <a:gd name="connsiteX18" fmla="*/ 3376003 w 7272338"/>
              <a:gd name="connsiteY18" fmla="*/ 2366574 h 7220557"/>
              <a:gd name="connsiteX19" fmla="*/ 2345242 w 7272338"/>
              <a:gd name="connsiteY19" fmla="*/ 3610278 h 7220557"/>
              <a:gd name="connsiteX20" fmla="*/ 2351907 w 7272338"/>
              <a:gd name="connsiteY20" fmla="*/ 3740077 h 7220557"/>
              <a:gd name="connsiteX21" fmla="*/ 2359665 w 7272338"/>
              <a:gd name="connsiteY21" fmla="*/ 3790062 h 7220557"/>
              <a:gd name="connsiteX22" fmla="*/ 4573 w 7272338"/>
              <a:gd name="connsiteY22" fmla="*/ 3790062 h 7220557"/>
              <a:gd name="connsiteX23" fmla="*/ 0 w 7272338"/>
              <a:gd name="connsiteY23" fmla="*/ 3610278 h 7220557"/>
              <a:gd name="connsiteX24" fmla="*/ 3449053 w 7272338"/>
              <a:gd name="connsiteY24" fmla="*/ 244 h 7220557"/>
              <a:gd name="connsiteX25" fmla="*/ 3813572 w 7272338"/>
              <a:gd name="connsiteY25" fmla="*/ 0 h 7220557"/>
              <a:gd name="connsiteX26" fmla="*/ 3823286 w 7272338"/>
              <a:gd name="connsiteY26" fmla="*/ 244 h 7220557"/>
              <a:gd name="connsiteX27" fmla="*/ 7272338 w 7272338"/>
              <a:gd name="connsiteY27" fmla="*/ 3610278 h 7220557"/>
              <a:gd name="connsiteX28" fmla="*/ 7267765 w 7272338"/>
              <a:gd name="connsiteY28" fmla="*/ 3790062 h 7220557"/>
              <a:gd name="connsiteX29" fmla="*/ 4912674 w 7272338"/>
              <a:gd name="connsiteY29" fmla="*/ 3790062 h 7220557"/>
              <a:gd name="connsiteX30" fmla="*/ 4920431 w 7272338"/>
              <a:gd name="connsiteY30" fmla="*/ 3740077 h 7220557"/>
              <a:gd name="connsiteX31" fmla="*/ 4927096 w 7272338"/>
              <a:gd name="connsiteY31" fmla="*/ 3610278 h 7220557"/>
              <a:gd name="connsiteX32" fmla="*/ 3896336 w 7272338"/>
              <a:gd name="connsiteY32" fmla="*/ 2366574 h 7220557"/>
              <a:gd name="connsiteX33" fmla="*/ 3813572 w 7272338"/>
              <a:gd name="connsiteY33" fmla="*/ 2354152 h 722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272338" h="7220557">
                <a:moveTo>
                  <a:pt x="4805836" y="4144870"/>
                </a:moveTo>
                <a:lnTo>
                  <a:pt x="7232473" y="4144870"/>
                </a:lnTo>
                <a:lnTo>
                  <a:pt x="7230441" y="4160767"/>
                </a:lnTo>
                <a:cubicBezTo>
                  <a:pt x="6972948" y="5836033"/>
                  <a:pt x="5558602" y="7132868"/>
                  <a:pt x="3823286" y="7220313"/>
                </a:cubicBezTo>
                <a:lnTo>
                  <a:pt x="3813572" y="7220557"/>
                </a:lnTo>
                <a:lnTo>
                  <a:pt x="3813572" y="4866404"/>
                </a:lnTo>
                <a:lnTo>
                  <a:pt x="3896336" y="4853983"/>
                </a:lnTo>
                <a:cubicBezTo>
                  <a:pt x="4274499" y="4777884"/>
                  <a:pt x="4592430" y="4539178"/>
                  <a:pt x="4771288" y="4215395"/>
                </a:cubicBezTo>
                <a:close/>
                <a:moveTo>
                  <a:pt x="39865" y="4144870"/>
                </a:moveTo>
                <a:lnTo>
                  <a:pt x="2466503" y="4144870"/>
                </a:lnTo>
                <a:lnTo>
                  <a:pt x="2501050" y="4215395"/>
                </a:lnTo>
                <a:cubicBezTo>
                  <a:pt x="2679909" y="4539178"/>
                  <a:pt x="2997840" y="4777884"/>
                  <a:pt x="3376003" y="4853983"/>
                </a:cubicBezTo>
                <a:lnTo>
                  <a:pt x="3458764" y="4866404"/>
                </a:lnTo>
                <a:lnTo>
                  <a:pt x="3458764" y="7220557"/>
                </a:lnTo>
                <a:lnTo>
                  <a:pt x="3449053" y="7220313"/>
                </a:lnTo>
                <a:cubicBezTo>
                  <a:pt x="1713737" y="7132868"/>
                  <a:pt x="299390" y="5836033"/>
                  <a:pt x="41897" y="4160767"/>
                </a:cubicBezTo>
                <a:close/>
                <a:moveTo>
                  <a:pt x="3458764" y="0"/>
                </a:moveTo>
                <a:lnTo>
                  <a:pt x="3458764" y="2354153"/>
                </a:lnTo>
                <a:lnTo>
                  <a:pt x="3376003" y="2366574"/>
                </a:lnTo>
                <a:cubicBezTo>
                  <a:pt x="2787749" y="2484950"/>
                  <a:pt x="2345242" y="2996796"/>
                  <a:pt x="2345242" y="3610278"/>
                </a:cubicBezTo>
                <a:cubicBezTo>
                  <a:pt x="2345242" y="3654098"/>
                  <a:pt x="2347500" y="3697400"/>
                  <a:pt x="2351907" y="3740077"/>
                </a:cubicBezTo>
                <a:lnTo>
                  <a:pt x="2359665" y="3790062"/>
                </a:lnTo>
                <a:lnTo>
                  <a:pt x="4573" y="3790062"/>
                </a:lnTo>
                <a:lnTo>
                  <a:pt x="0" y="3610278"/>
                </a:lnTo>
                <a:cubicBezTo>
                  <a:pt x="0" y="1676300"/>
                  <a:pt x="1527810" y="97058"/>
                  <a:pt x="3449053" y="244"/>
                </a:cubicBezTo>
                <a:close/>
                <a:moveTo>
                  <a:pt x="3813572" y="0"/>
                </a:moveTo>
                <a:lnTo>
                  <a:pt x="3823286" y="244"/>
                </a:lnTo>
                <a:cubicBezTo>
                  <a:pt x="5744528" y="97058"/>
                  <a:pt x="7272338" y="1676300"/>
                  <a:pt x="7272338" y="3610278"/>
                </a:cubicBezTo>
                <a:lnTo>
                  <a:pt x="7267765" y="3790062"/>
                </a:lnTo>
                <a:lnTo>
                  <a:pt x="4912674" y="3790062"/>
                </a:lnTo>
                <a:lnTo>
                  <a:pt x="4920431" y="3740077"/>
                </a:lnTo>
                <a:cubicBezTo>
                  <a:pt x="4924839" y="3697400"/>
                  <a:pt x="4927096" y="3654098"/>
                  <a:pt x="4927096" y="3610278"/>
                </a:cubicBezTo>
                <a:cubicBezTo>
                  <a:pt x="4927096" y="2996796"/>
                  <a:pt x="4484589" y="2484950"/>
                  <a:pt x="3896336" y="2366574"/>
                </a:cubicBezTo>
                <a:lnTo>
                  <a:pt x="3813572" y="2354152"/>
                </a:lnTo>
                <a:close/>
              </a:path>
            </a:pathLst>
          </a:custGeom>
          <a:ln>
            <a:solidFill>
              <a:schemeClr val="bg1"/>
            </a:solidFill>
          </a:ln>
          <a:effectLst>
            <a:outerShdw blurRad="2032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43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8DD4F-0307-642C-762E-33CE5CE8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F0F4892-B473-AEB5-B50C-4C74D8C05D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  <a:lumMod val="99000"/>
                </a:schemeClr>
              </a:gs>
              <a:gs pos="100000">
                <a:schemeClr val="tx1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FE8B1E-EF58-3268-48B1-8236C1853537}"/>
              </a:ext>
            </a:extLst>
          </p:cNvPr>
          <p:cNvSpPr txBox="1"/>
          <p:nvPr/>
        </p:nvSpPr>
        <p:spPr>
          <a:xfrm>
            <a:off x="1484411" y="439310"/>
            <a:ext cx="92231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dern No. 20" panose="02070704070505020303" pitchFamily="18" charset="0"/>
                <a:ea typeface="+mn-ea"/>
                <a:cs typeface="+mn-cs"/>
              </a:rPr>
              <a:t>Obrigado pela atenção</a:t>
            </a:r>
          </a:p>
        </p:txBody>
      </p:sp>
      <p:pic>
        <p:nvPicPr>
          <p:cNvPr id="1026" name="Picture 2" descr="Fim Do Slide Perguntas? Fazem O Pix Primeiro - Meme - Criarmeme.com.br">
            <a:extLst>
              <a:ext uri="{FF2B5EF4-FFF2-40B4-BE49-F238E27FC236}">
                <a16:creationId xmlns:a16="http://schemas.microsoft.com/office/drawing/2014/main" id="{EA3B7543-AEAD-B021-C626-DB44710B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7" y="1991350"/>
            <a:ext cx="4638049" cy="46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M CASO DE DÚVIDA: LEIA OS SLIDES NOVAMENTE - Gerador de Memes Online">
            <a:extLst>
              <a:ext uri="{FF2B5EF4-FFF2-40B4-BE49-F238E27FC236}">
                <a16:creationId xmlns:a16="http://schemas.microsoft.com/office/drawing/2014/main" id="{99FD43C2-ABE2-D620-7BA0-11A1CDEE4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13" y="1991350"/>
            <a:ext cx="4638049" cy="46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8BC8238-4535-92EC-823F-042CB995CEB4}"/>
              </a:ext>
            </a:extLst>
          </p:cNvPr>
          <p:cNvSpPr txBox="1"/>
          <p:nvPr/>
        </p:nvSpPr>
        <p:spPr>
          <a:xfrm>
            <a:off x="2267478" y="-6230244"/>
            <a:ext cx="94905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2. Relacionamentos 1:N</a:t>
            </a: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CUIDA (Pais/Cuidadores 1:N Criança): A PK de PAIS/CUIDADORES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ATENDE (Terapeuta/Especialista 1:N Criança): A PK de TERAPEUTA/ESPECIALISTA deve ir para CRIANÇA.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LECIONA (Professores/Educadores 1:N Instituição): A PK de PROFESSORES/EDUCADORES deve ir para INSTITUIÇÃO.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3. Relacionamentos 0:N (Onde N&gt;1)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Modelo: O relacionamento AGENDAR (Criança M:N Agendamento) é na verdade um relacionamento 0:N entre CRIANÇAS e INSTITUICÃO através da entidade associativa AGENDAMENTO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• Decisão: O Agendamento será mapeado como uma Entidade de Ligação (Tabela 0:N), com sua própria PK (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ID_Agendamento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e as </a:t>
            </a:r>
            <a:r>
              <a:rPr kumimoji="0" lang="pt-BR" sz="2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FKs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das entidades que conecta (Criança e Instituição).</a:t>
            </a:r>
          </a:p>
        </p:txBody>
      </p:sp>
    </p:spTree>
    <p:extLst>
      <p:ext uri="{BB962C8B-B14F-4D97-AF65-F5344CB8AC3E}">
        <p14:creationId xmlns:p14="http://schemas.microsoft.com/office/powerpoint/2010/main" val="1203388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2548</Words>
  <Application>Microsoft Office PowerPoint</Application>
  <PresentationFormat>Widescreen</PresentationFormat>
  <Paragraphs>178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Georgia</vt:lpstr>
      <vt:lpstr>Modern No. 20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Nogueira</dc:creator>
  <cp:lastModifiedBy>Gabriel Nogueira</cp:lastModifiedBy>
  <cp:revision>46</cp:revision>
  <dcterms:created xsi:type="dcterms:W3CDTF">2025-08-02T18:36:45Z</dcterms:created>
  <dcterms:modified xsi:type="dcterms:W3CDTF">2025-12-01T11:50:27Z</dcterms:modified>
</cp:coreProperties>
</file>